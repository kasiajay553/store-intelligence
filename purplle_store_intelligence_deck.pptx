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7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3657600"/>
            <a:ext cx="4572000" cy="4572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9994392" cy="3657600"/>
          </a:xfrm>
          <a:prstGeom prst="roundRect">
            <a:avLst/>
          </a:prstGeom>
          <a:solidFill>
            <a:srgbClr val="16102C"/>
          </a:solidFill>
          <a:ln w="254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926287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6B6D4"/>
                </a:solidFill>
                <a:latin typeface="Outfit"/>
              </a:defRPr>
            </a:pPr>
            <a:r>
              <a:t>PURPLLE STORE INTELLIGENCE</a:t>
            </a:r>
          </a:p>
          <a:p>
            <a:pPr algn="l">
              <a:spcAft>
                <a:spcPts val="3000"/>
              </a:spcAft>
              <a:defRPr sz="2000">
                <a:solidFill>
                  <a:srgbClr val="FFFFFF"/>
                </a:solidFill>
                <a:latin typeface="Outfit"/>
              </a:defRPr>
            </a:pPr>
            <a:r>
              <a:t>Edge-to-API Computer Vision Telemetry &amp; Retail Analytics Suite</a:t>
            </a:r>
          </a:p>
          <a:p>
            <a:pPr algn="l">
              <a:defRPr sz="1300" b="1">
                <a:solidFill>
                  <a:srgbClr val="EC4899"/>
                </a:solidFill>
                <a:latin typeface="Outfit"/>
              </a:defRPr>
            </a:pPr>
            <a:r>
              <a:t>TECHNOLOGY CHALLENGE SUBMISSION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7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C4899"/>
                </a:solidFill>
                <a:latin typeface="Outfit"/>
              </a:defRPr>
            </a:pPr>
            <a:r>
              <a:t>THE RETAIL BLIND SPOT</a:t>
            </a:r>
          </a:p>
          <a:p>
            <a:pPr>
              <a:defRPr sz="1400">
                <a:solidFill>
                  <a:srgbClr val="A39CB5"/>
                </a:solidFill>
                <a:latin typeface="Outfit"/>
              </a:defRPr>
            </a:pPr>
            <a:r>
              <a:t>Why physical retail stores operate in data silos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28416" cy="384048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296265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 b="1">
                <a:solidFill>
                  <a:srgbClr val="EF4444"/>
                </a:solidFill>
                <a:latin typeface="Outfit"/>
              </a:defRPr>
            </a:pPr>
            <a:r>
              <a:t>SILOED DATA FLOWS</a:t>
            </a:r>
          </a:p>
          <a:p>
            <a:pPr>
              <a:lnSpc>
                <a:spcPct val="130000"/>
              </a:lnSpc>
              <a:defRPr sz="1400">
                <a:solidFill>
                  <a:srgbClr val="FFFFFF"/>
                </a:solidFill>
                <a:latin typeface="Outfit"/>
              </a:defRPr>
            </a:pPr>
            <a:r>
              <a:t>Video feeds from cameras and purchase logs from POS machines do not communicate. Final transactional data is disconnected from in-store customer journeys.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828800"/>
            <a:ext cx="3328416" cy="384048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2103120"/>
            <a:ext cx="296265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 b="1">
                <a:solidFill>
                  <a:srgbClr val="F97316"/>
                </a:solidFill>
                <a:latin typeface="Outfit"/>
              </a:defRPr>
            </a:pPr>
            <a:r>
              <a:t>TRACKING BLINDSPOTS</a:t>
            </a:r>
          </a:p>
          <a:p>
            <a:pPr>
              <a:lnSpc>
                <a:spcPct val="130000"/>
              </a:lnSpc>
              <a:defRPr sz="1400">
                <a:solidFill>
                  <a:srgbClr val="FFFFFF"/>
                </a:solidFill>
                <a:latin typeface="Outfit"/>
              </a:defRPr>
            </a:pPr>
            <a:r>
              <a:t>Retailers have zero metrics on how many unique visitors browse displays, which zones receive the highest dwell time, or where customers drop out of checkout 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828800"/>
            <a:ext cx="3328416" cy="384048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2103120"/>
            <a:ext cx="296265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 b="1">
                <a:solidFill>
                  <a:srgbClr val="7E22CE"/>
                </a:solidFill>
                <a:latin typeface="Outfit"/>
              </a:defRPr>
            </a:pPr>
            <a:r>
              <a:t>OPERATIONAL INACTION</a:t>
            </a:r>
          </a:p>
          <a:p>
            <a:pPr>
              <a:lnSpc>
                <a:spcPct val="130000"/>
              </a:lnSpc>
              <a:defRPr sz="1400">
                <a:solidFill>
                  <a:srgbClr val="FFFFFF"/>
                </a:solidFill>
                <a:latin typeface="Outfit"/>
              </a:defRPr>
            </a:pPr>
            <a:r>
              <a:t>Store managers lack real-time triggers for long billing wait times, queue spikes, or customer line abandonments, causing unnoticed conversions drops.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7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C4899"/>
                </a:solidFill>
                <a:latin typeface="Outfit"/>
              </a:defRPr>
            </a:pPr>
            <a:r>
              <a:t>SYSTEM ARCHITECTURE FLOW</a:t>
            </a:r>
          </a:p>
          <a:p>
            <a:pPr>
              <a:defRPr sz="1400">
                <a:solidFill>
                  <a:srgbClr val="A39CB5"/>
                </a:solidFill>
                <a:latin typeface="Outfit"/>
              </a:defRPr>
            </a:pPr>
            <a:r>
              <a:t>Decoupled edge client streaming to compliant analytics endpoints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560320"/>
            <a:ext cx="2011680" cy="2194560"/>
          </a:xfrm>
          <a:prstGeom prst="roundRect">
            <a:avLst/>
          </a:prstGeom>
          <a:solidFill>
            <a:srgbClr val="16102C"/>
          </a:solidFill>
          <a:ln w="381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400" b="1">
                <a:solidFill>
                  <a:srgbClr val="06B6D4"/>
                </a:solidFill>
                <a:latin typeface="Outfit"/>
              </a:defRPr>
            </a:pPr>
            <a:r>
              <a:t>EDGE VIDEO</a:t>
            </a:r>
            <a:br/>
            <a:r>
              <a:t>CCTV FEEDS</a:t>
            </a:r>
          </a:p>
          <a:p>
            <a:pPr algn="ctr">
              <a:lnSpc>
                <a:spcPct val="120000"/>
              </a:lnSpc>
              <a:defRPr sz="1100">
                <a:solidFill>
                  <a:srgbClr val="FFFFFF"/>
                </a:solidFill>
                <a:latin typeface="Outfit"/>
              </a:defRPr>
            </a:pPr>
            <a:r>
              <a:t>Processes CCTV video feeds frame-by-frame locally. Utilizes YOLOv8 for human bounding box detection.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88920" y="3429000"/>
            <a:ext cx="548640" cy="457200"/>
          </a:xfrm>
          <a:prstGeom prst="rightArrow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31920" y="2560320"/>
            <a:ext cx="2011680" cy="2194560"/>
          </a:xfrm>
          <a:prstGeom prst="roundRect">
            <a:avLst/>
          </a:prstGeom>
          <a:solidFill>
            <a:srgbClr val="16102C"/>
          </a:solidFill>
          <a:ln w="381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400" b="1">
                <a:solidFill>
                  <a:srgbClr val="7E22CE"/>
                </a:solidFill>
                <a:latin typeface="Outfit"/>
              </a:defRPr>
            </a:pPr>
            <a:r>
              <a:t>CV PIPELINE</a:t>
            </a:r>
            <a:br/>
            <a:r>
              <a:t>TRACKER ENGINE</a:t>
            </a:r>
          </a:p>
          <a:p>
            <a:pPr algn="ctr">
              <a:lnSpc>
                <a:spcPct val="120000"/>
              </a:lnSpc>
              <a:defRPr sz="1100">
                <a:solidFill>
                  <a:srgbClr val="FFFFFF"/>
                </a:solidFill>
                <a:latin typeface="Outfit"/>
              </a:defRPr>
            </a:pPr>
            <a:r>
              <a:t>Maps centroids &amp; IoU overlaps. Translates shopper footprint positions to store zones (cv2.pointPolygonTest).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3429000"/>
            <a:ext cx="548640" cy="457200"/>
          </a:xfrm>
          <a:prstGeom prst="rightArrow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0" y="2560320"/>
            <a:ext cx="2011680" cy="2194560"/>
          </a:xfrm>
          <a:prstGeom prst="roundRect">
            <a:avLst/>
          </a:prstGeom>
          <a:solidFill>
            <a:srgbClr val="16102C"/>
          </a:solidFill>
          <a:ln w="381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400" b="1">
                <a:solidFill>
                  <a:srgbClr val="EC4899"/>
                </a:solidFill>
                <a:latin typeface="Outfit"/>
              </a:defRPr>
            </a:pPr>
            <a:r>
              <a:t>FASTAPI GATEWAY</a:t>
            </a:r>
            <a:br/>
            <a:r>
              <a:t>STORAGE SERVER</a:t>
            </a:r>
          </a:p>
          <a:p>
            <a:pPr algn="ctr">
              <a:lnSpc>
                <a:spcPct val="120000"/>
              </a:lnSpc>
              <a:defRPr sz="1100">
                <a:solidFill>
                  <a:srgbClr val="FFFFFF"/>
                </a:solidFill>
                <a:latin typeface="Outfit"/>
              </a:defRPr>
            </a:pPr>
            <a:r>
              <a:t>Validates schema. Runs SQLite constraint deduplication, and boots POS CSV transactions data.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189720" y="3429000"/>
            <a:ext cx="548640" cy="457200"/>
          </a:xfrm>
          <a:prstGeom prst="rightArrow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32720" y="2560320"/>
            <a:ext cx="2011680" cy="2194560"/>
          </a:xfrm>
          <a:prstGeom prst="roundRect">
            <a:avLst/>
          </a:prstGeom>
          <a:solidFill>
            <a:srgbClr val="16102C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43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400" b="1">
                <a:solidFill>
                  <a:srgbClr val="10B981"/>
                </a:solidFill>
                <a:latin typeface="Outfit"/>
              </a:defRPr>
            </a:pPr>
            <a:r>
              <a:t>ANALYTICS</a:t>
            </a:r>
            <a:br/>
            <a:r>
              <a:t>WEB UI</a:t>
            </a:r>
          </a:p>
          <a:p>
            <a:pPr algn="ctr">
              <a:lnSpc>
                <a:spcPct val="120000"/>
              </a:lnSpc>
              <a:defRPr sz="1100">
                <a:solidFill>
                  <a:srgbClr val="FFFFFF"/>
                </a:solidFill>
                <a:latin typeface="Outfit"/>
              </a:defRPr>
            </a:pPr>
            <a:r>
              <a:t>Computes conversions, funnels, and alert notifications. Refreshes live metrics every 5 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7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C4899"/>
                </a:solidFill>
                <a:latin typeface="Outfit"/>
              </a:defRPr>
            </a:pPr>
            <a:r>
              <a:t>VISITOR CONVERSION FUNNEL</a:t>
            </a:r>
          </a:p>
          <a:p>
            <a:pPr>
              <a:defRPr sz="1400">
                <a:solidFill>
                  <a:srgbClr val="A39CB5"/>
                </a:solidFill>
                <a:latin typeface="Outfit"/>
              </a:defRPr>
            </a:pPr>
            <a:r>
              <a:t>Session-based, deduplicated shopper conversion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4114800" cy="914400"/>
          </a:xfrm>
          <a:prstGeom prst="rect">
            <a:avLst/>
          </a:prstGeom>
          <a:solidFill>
            <a:srgbClr val="16102C"/>
          </a:solidFill>
          <a:ln w="317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Outfit"/>
              </a:defRPr>
            </a:pPr>
            <a:r>
              <a:t>STAGE 1: ENTRANCE VISITORS (100%)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0" y="2011680"/>
            <a:ext cx="6336792" cy="914400"/>
          </a:xfrm>
          <a:prstGeom prst="rect">
            <a:avLst/>
          </a:prstGeom>
          <a:solidFill>
            <a:srgbClr val="16102C"/>
          </a:solidFill>
          <a:ln w="127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57800" y="2148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FFFFF"/>
                </a:solidFill>
                <a:latin typeface="Outfit"/>
              </a:defRPr>
            </a:pPr>
            <a:r>
              <a:t>Captures overall physical footfall entries into the store camera bounds (excluding staff).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4114800" cy="914400"/>
          </a:xfrm>
          <a:prstGeom prst="rect">
            <a:avLst/>
          </a:prstGeom>
          <a:solidFill>
            <a:srgbClr val="16102C"/>
          </a:solidFill>
          <a:ln w="317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E22CE"/>
                </a:solidFill>
                <a:latin typeface="Outfit"/>
              </a:defRPr>
            </a:pPr>
            <a:r>
              <a:t>STAGE 2: PRODUCT AREA BROWSE (Zone Traffic)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3108960"/>
            <a:ext cx="6336792" cy="914400"/>
          </a:xfrm>
          <a:prstGeom prst="rect">
            <a:avLst/>
          </a:prstGeom>
          <a:solidFill>
            <a:srgbClr val="16102C"/>
          </a:solidFill>
          <a:ln w="127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324612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FFFFF"/>
                </a:solidFill>
                <a:latin typeface="Outfit"/>
              </a:defRPr>
            </a:pPr>
            <a:r>
              <a:t>Maps trajectory footprints inside specific display or shelf coordinates.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206240"/>
            <a:ext cx="4114800" cy="914400"/>
          </a:xfrm>
          <a:prstGeom prst="rect">
            <a:avLst/>
          </a:prstGeom>
          <a:solidFill>
            <a:srgbClr val="16102C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434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C4899"/>
                </a:solidFill>
                <a:latin typeface="Outfit"/>
              </a:defRPr>
            </a:pPr>
            <a:r>
              <a:t>STAGE 3: BILLING QUEUE JOIN (Wait 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4206240"/>
            <a:ext cx="6336792" cy="914400"/>
          </a:xfrm>
          <a:prstGeom prst="rect">
            <a:avLst/>
          </a:prstGeom>
          <a:solidFill>
            <a:srgbClr val="16102C"/>
          </a:solidFill>
          <a:ln w="127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434340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FFFFF"/>
                </a:solidFill>
                <a:latin typeface="Outfit"/>
              </a:defRPr>
            </a:pPr>
            <a:r>
              <a:t>Registers visitors joining checkout queue lanes (calculating waiting queue depth).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03520"/>
            <a:ext cx="4114800" cy="914400"/>
          </a:xfrm>
          <a:prstGeom prst="rect">
            <a:avLst/>
          </a:prstGeom>
          <a:solidFill>
            <a:srgbClr val="16102C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Outfit"/>
              </a:defRPr>
            </a:pPr>
            <a:r>
              <a:t>STAGE 4: CHECKOUT COMPLETE (POS Sale)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5303520"/>
            <a:ext cx="6336792" cy="914400"/>
          </a:xfrm>
          <a:prstGeom prst="rect">
            <a:avLst/>
          </a:prstGeom>
          <a:solidFill>
            <a:srgbClr val="16102C"/>
          </a:solidFill>
          <a:ln w="127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44068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FFFFF"/>
                </a:solidFill>
                <a:latin typeface="Outfit"/>
              </a:defRPr>
            </a:pPr>
            <a:r>
              <a:t>Aligns with unique POS order transactions data to complete store conversion metrics.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7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C4899"/>
                </a:solidFill>
                <a:latin typeface="Outfit"/>
              </a:defRPr>
            </a:pPr>
            <a:r>
              <a:t>OPERATIONAL DIAGNOSTICS &amp; ANOMALIES</a:t>
            </a:r>
          </a:p>
          <a:p>
            <a:pPr>
              <a:defRPr sz="1400">
                <a:solidFill>
                  <a:srgbClr val="A39CB5"/>
                </a:solidFill>
                <a:latin typeface="Outfit"/>
              </a:defRPr>
            </a:pPr>
            <a:r>
              <a:t>Real-time alerts classification and suggested manager actions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28416" cy="393192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30540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EF4444"/>
                </a:solidFill>
                <a:latin typeface="Outfit"/>
              </a:defRPr>
            </a:pPr>
            <a:r>
              <a:t>CRITICAL SEVERITY</a:t>
            </a:r>
          </a:p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•  Conversion Drop</a:t>
            </a:r>
          </a:p>
          <a:p>
            <a:pPr>
              <a:spcAft>
                <a:spcPts val="1500"/>
              </a:spcAft>
              <a:defRPr sz="1100">
                <a:solidFill>
                  <a:srgbClr val="A39CB5"/>
                </a:solidFill>
                <a:latin typeface="Outfit"/>
              </a:defRPr>
            </a:pPr>
            <a:r>
              <a:t>Triggers when visitor conversion rates drop below threshold. Suggests checking checkout lanes and POS connection states.</a:t>
            </a:r>
          </a:p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•  Queue Abandonment</a:t>
            </a:r>
          </a:p>
          <a:p>
            <a:pPr>
              <a:defRPr sz="1100">
                <a:solidFill>
                  <a:srgbClr val="A39CB5"/>
                </a:solidFill>
                <a:latin typeface="Outfit"/>
              </a:defRPr>
            </a:pPr>
            <a:r>
              <a:t>Triggered when visitors exit queue lines before checkout, suggesting active cashier backup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828800"/>
            <a:ext cx="3328416" cy="393192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62856" y="2011680"/>
            <a:ext cx="30540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F97316"/>
                </a:solidFill>
                <a:latin typeface="Outfit"/>
              </a:defRPr>
            </a:pPr>
            <a:r>
              <a:t>WARNING SEVERITY</a:t>
            </a:r>
          </a:p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•  Queue Line Spike</a:t>
            </a:r>
          </a:p>
          <a:p>
            <a:pPr>
              <a:spcAft>
                <a:spcPts val="1500"/>
              </a:spcAft>
              <a:defRPr sz="1100">
                <a:solidFill>
                  <a:srgbClr val="A39CB5"/>
                </a:solidFill>
                <a:latin typeface="Outfit"/>
              </a:defRPr>
            </a:pPr>
            <a:r>
              <a:t>Triggered when active queue length or wait times exceed limits. Suggests opening dynamic checkouts.</a:t>
            </a:r>
          </a:p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•  Long wait times</a:t>
            </a:r>
          </a:p>
          <a:p>
            <a:pPr>
              <a:defRPr sz="1100">
                <a:solidFill>
                  <a:srgbClr val="A39CB5"/>
                </a:solidFill>
                <a:latin typeface="Outfit"/>
              </a:defRPr>
            </a:pPr>
            <a:r>
              <a:t>Tracks customers waiting in line for more than 15 seconds, alerting managers to direct helpers.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828800"/>
            <a:ext cx="3328416" cy="393192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7032" y="2011680"/>
            <a:ext cx="30540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06B6D4"/>
                </a:solidFill>
                <a:latin typeface="Outfit"/>
              </a:defRPr>
            </a:pPr>
            <a:r>
              <a:t>INFO SEVERITY</a:t>
            </a:r>
          </a:p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•  Dead Zone Alerts</a:t>
            </a:r>
          </a:p>
          <a:p>
            <a:pPr>
              <a:spcAft>
                <a:spcPts val="1500"/>
              </a:spcAft>
              <a:defRPr sz="1100">
                <a:solidFill>
                  <a:srgbClr val="A39CB5"/>
                </a:solidFill>
                <a:latin typeface="Outfit"/>
              </a:defRPr>
            </a:pPr>
            <a:r>
              <a:t>Flags display stands or layout zones getting zero visitor interactions despite high footfalls.</a:t>
            </a:r>
          </a:p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•  Layout Congestion</a:t>
            </a:r>
          </a:p>
          <a:p>
            <a:pPr>
              <a:defRPr sz="1100">
                <a:solidFill>
                  <a:srgbClr val="A39CB5"/>
                </a:solidFill>
                <a:latin typeface="Outfit"/>
              </a:defRPr>
            </a:pPr>
            <a:r>
              <a:t>Identifies shelves causing traffic bottlenecks (dwell times &gt; 45s) to suggest layout widening.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7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C4899"/>
                </a:solidFill>
                <a:latin typeface="Outfit"/>
              </a:defRPr>
            </a:pPr>
            <a:r>
              <a:t>PRODUCTION READINESS &amp; ARCHITECTURE CHOICES</a:t>
            </a:r>
          </a:p>
          <a:p>
            <a:pPr>
              <a:defRPr sz="1400">
                <a:solidFill>
                  <a:srgbClr val="A39CB5"/>
                </a:solidFill>
                <a:latin typeface="Outfit"/>
              </a:defRPr>
            </a:pPr>
            <a:r>
              <a:t>Engineered for robust operations and low setup friction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175504" cy="393192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8097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06B6D4"/>
                </a:solidFill>
                <a:latin typeface="Outfit"/>
              </a:defRPr>
            </a:pPr>
            <a:r>
              <a:t>OBSERVABILITY &amp; INTEGRATION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Outfit"/>
              </a:defRPr>
            </a:pPr>
            <a:r>
              <a:t>•  Structured JSON Logging: </a:t>
            </a:r>
            <a:r>
              <a:rPr sz="1100" b="0">
                <a:solidFill>
                  <a:srgbClr val="A39CB5"/>
                </a:solidFill>
                <a:latin typeface="Outfit"/>
              </a:rPr>
              <a:t>HTTP requests trace telemetry (trace_id, store_id, latency_ms) printed cleanly in stdout for collector pipes (e.g. FluentBit).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Outfit"/>
              </a:defRPr>
            </a:pPr>
            <a:r>
              <a:t>•  Graceful DB Degradation: </a:t>
            </a:r>
            <a:r>
              <a:rPr sz="1100" b="0">
                <a:solidFill>
                  <a:srgbClr val="A39CB5"/>
                </a:solidFill>
                <a:latin typeface="Outfit"/>
              </a:rPr>
              <a:t>Intercepts SQLiteOperationalErrors during write locks to cleanly return HTTP 503 rather than breaking server runtime.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Outfit"/>
              </a:defRPr>
            </a:pPr>
            <a:r>
              <a:t>•  Stack Trace Suppression: </a:t>
            </a:r>
            <a:r>
              <a:rPr sz="1100" b="0">
                <a:solidFill>
                  <a:srgbClr val="A39CB5"/>
                </a:solidFill>
                <a:latin typeface="Outfit"/>
              </a:rPr>
              <a:t>Global catch-all exception middleware catches unhandled python runtime exceptions to mask raw tracebacks from public clients.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2784" y="1828800"/>
            <a:ext cx="5175504" cy="3931920"/>
          </a:xfrm>
          <a:prstGeom prst="roundRect">
            <a:avLst/>
          </a:prstGeom>
          <a:solidFill>
            <a:srgbClr val="16102C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55664" y="2011680"/>
            <a:ext cx="48097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EC4899"/>
                </a:solidFill>
                <a:latin typeface="Outfit"/>
              </a:defRPr>
            </a:pPr>
            <a:r>
              <a:t>VALIDATION &amp; DEPLOYMENT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Outfit"/>
              </a:defRPr>
            </a:pPr>
            <a:r>
              <a:t>•  Docker Compose Works: </a:t>
            </a:r>
            <a:r>
              <a:rPr sz="1100" b="0">
                <a:solidFill>
                  <a:srgbClr val="A39CB5"/>
                </a:solidFill>
                <a:latin typeface="Outfit"/>
              </a:rPr>
              <a:t>Builds containers in single command. Automatically mounts local volumes and handles database seed imports.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Outfit"/>
              </a:defRPr>
            </a:pPr>
            <a:r>
              <a:t>•  14/14 Pytest Test Coverage: </a:t>
            </a:r>
            <a:r>
              <a:rPr sz="1100" b="0">
                <a:solidFill>
                  <a:srgbClr val="A39CB5"/>
                </a:solidFill>
                <a:latin typeface="Outfit"/>
              </a:rPr>
              <a:t>Validates special compliance test scenarios (Empty Store, All-Staff Clips, Zero Purchases, Re-entry Funnels).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Outfit"/>
              </a:defRPr>
            </a:pPr>
            <a:r>
              <a:t>•  Portability &amp; Portings: </a:t>
            </a:r>
            <a:r>
              <a:rPr sz="1100" b="0">
                <a:solidFill>
                  <a:srgbClr val="A39CB5"/>
                </a:solidFill>
                <a:latin typeface="Outfit"/>
              </a:rPr>
              <a:t>Custom Centroid/IoU tracking replaces C++ libraries (DeepSORT/ByteTrack), running out-of-the-box on CPU without compilers.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