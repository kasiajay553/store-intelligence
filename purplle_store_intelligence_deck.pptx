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C4899"/>
                </a:solidFill>
                <a:latin typeface="Arial"/>
              </a:defRPr>
            </a:pPr>
            <a:r>
              <a:t>PURPLLE STORE INTELLIGENCE</a:t>
            </a:r>
          </a:p>
          <a:p>
            <a:pPr algn="l">
              <a:defRPr sz="2200">
                <a:solidFill>
                  <a:srgbClr val="FFFFFF"/>
                </a:solidFill>
                <a:latin typeface="Arial"/>
              </a:defRPr>
            </a:pPr>
            <a:r>
              <a:t>Edge-to-API Computer Vision Telemetry &amp; Retail Analytics Suite</a:t>
            </a:r>
          </a:p>
          <a:p>
            <a:br/>
            <a:pPr algn="l">
              <a:defRPr sz="1600">
                <a:solidFill>
                  <a:srgbClr val="A39CB5"/>
                </a:solidFill>
                <a:latin typeface="Arial"/>
              </a:defRPr>
            </a:pPr>
            <a:r>
              <a:t>Hackathon Submission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4899"/>
                </a:solidFill>
                <a:latin typeface="Arial"/>
              </a:defRPr>
            </a:pPr>
            <a:r>
              <a:t>THE RETAIL BLIND SPOT</a:t>
            </a:r>
          </a:p>
          <a:p>
            <a:pPr>
              <a:defRPr sz="1400">
                <a:solidFill>
                  <a:srgbClr val="A39CB5"/>
                </a:solidFill>
                <a:latin typeface="Arial"/>
              </a:defRPr>
            </a:pPr>
            <a:r>
              <a:t>Why physical retail stores operate in silos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Siloed Data Systems: </a:t>
            </a:r>
            <a:r>
              <a:rPr sz="1600" b="0">
                <a:solidFill>
                  <a:srgbClr val="FFFFFF"/>
                </a:solidFill>
                <a:latin typeface="Arial"/>
              </a:rPr>
              <a:t>CCTV video streams and Point-of-Sale (POS) databases do not talk to each other, leaving customer behavior decoupled from final transactions.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Dark-Spot Tracking: </a:t>
            </a:r>
            <a:r>
              <a:rPr sz="1600" b="0">
                <a:solidFill>
                  <a:srgbClr val="FFFFFF"/>
                </a:solidFill>
                <a:latin typeface="Arial"/>
              </a:rPr>
              <a:t>Stores have zero metrics on customer journeys. They do not know how many unique visitors browse shelves, where drop-offs happen, or how long people wait in checkout lines.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Operational Inefficiencies: </a:t>
            </a:r>
            <a:r>
              <a:rPr sz="1600" b="0">
                <a:solidFill>
                  <a:srgbClr val="FFFFFF"/>
                </a:solidFill>
                <a:latin typeface="Arial"/>
              </a:rPr>
              <a:t>Managers lack real-time indicators for billing queue abandonment, layout congestion, or low store conversion rates.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Data Timeline Mismatches: </a:t>
            </a:r>
            <a:r>
              <a:rPr sz="1600" b="0">
                <a:solidFill>
                  <a:srgbClr val="FFFFFF"/>
                </a:solidFill>
                <a:latin typeface="Arial"/>
              </a:rPr>
              <a:t>Aggregating historical telemetry and mock evaluation datasets with mismatched timelines is mathematically complex and error-prone.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4899"/>
                </a:solidFill>
                <a:latin typeface="Arial"/>
              </a:defRPr>
            </a:pPr>
            <a:r>
              <a:t>THE DECOUPLED EDGE-TO-API SOLUTION</a:t>
            </a:r>
          </a:p>
          <a:p>
            <a:pPr>
              <a:defRPr sz="1400">
                <a:solidFill>
                  <a:srgbClr val="A39CB5"/>
                </a:solidFill>
                <a:latin typeface="Arial"/>
              </a:defRPr>
            </a:pPr>
            <a:r>
              <a:t>End-to-end retail intelligence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YOLOv8 &amp; Custom Tracking Client: </a:t>
            </a:r>
            <a:r>
              <a:rPr sz="1600" b="0">
                <a:solidFill>
                  <a:srgbClr val="FFFFFF"/>
                </a:solidFill>
                <a:latin typeface="Arial"/>
              </a:rPr>
              <a:t>Processes raw camera video clips locally, extracts coordinates, and tracks shopper centroids with an IoU matching layer to maintain ID continuity during occlusions.</a:t>
            </a:r>
          </a:p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FastAPI Analytics Gateway: </a:t>
            </a:r>
            <a:r>
              <a:rPr sz="1600" b="0">
                <a:solidFill>
                  <a:srgbClr val="FFFFFF"/>
                </a:solidFill>
                <a:latin typeface="Arial"/>
              </a:rPr>
              <a:t>A high-performance REST API supporting idempotent event ingest batches (up to 500 events) and path parameter query endpoints (/stores/{id}/metrics).</a:t>
            </a:r>
          </a:p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Idempotent SQLite Engine: </a:t>
            </a:r>
            <a:r>
              <a:rPr sz="1600" b="0">
                <a:solidFill>
                  <a:srgbClr val="FFFFFF"/>
                </a:solidFill>
                <a:latin typeface="Arial"/>
              </a:rPr>
              <a:t>Maintains zero-config storage. Resolves network retries and feed overlaps directly at database-level via unique constraint deduplication.</a:t>
            </a:r>
          </a:p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Glassmorphic Telemetry Dashboard: </a:t>
            </a:r>
            <a:r>
              <a:rPr sz="1600" b="0">
                <a:solidFill>
                  <a:srgbClr val="FFFFFF"/>
                </a:solidFill>
                <a:latin typeface="Arial"/>
              </a:rPr>
              <a:t>Refreshes every 5 seconds to provide visual conversion funnel metrics, zone heatmap statistics, queue counts, and operational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4899"/>
                </a:solidFill>
                <a:latin typeface="Arial"/>
              </a:defRPr>
            </a:pPr>
            <a:r>
              <a:t>DEEP RETAIL KPIS &amp; ANALYTICS</a:t>
            </a:r>
          </a:p>
          <a:p>
            <a:pPr>
              <a:defRPr sz="1400">
                <a:solidFill>
                  <a:srgbClr val="A39CB5"/>
                </a:solidFill>
                <a:latin typeface="Arial"/>
              </a:defRPr>
            </a:pPr>
            <a:r>
              <a:t>Turning raw logs into conversion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Store Conversion Rates: </a:t>
            </a:r>
            <a:r>
              <a:rPr sz="1600" b="0">
                <a:solidFill>
                  <a:srgbClr val="FFFFFF"/>
                </a:solidFill>
                <a:latin typeface="Arial"/>
              </a:rPr>
              <a:t>Computes (Transactions / Unique Visitors) * 100 on a given day. Excludes staff trajectories automatically using metadata tags.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Session-Based Journey Funnel: </a:t>
            </a:r>
            <a:r>
              <a:rPr sz="1600" b="0">
                <a:solidFill>
                  <a:srgbClr val="FFFFFF"/>
                </a:solidFill>
                <a:latin typeface="Arial"/>
              </a:rPr>
              <a:t>Tracks visitor transitions down the retail stages: Entry -&gt; Product Browse -&gt; Billing Queue -&gt; Checkout. Handles asynchronous events and enforces non-increasing mathematical bounds.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Normalized Spatial Heatmaps: </a:t>
            </a:r>
            <a:r>
              <a:rPr sz="1600" b="0">
                <a:solidFill>
                  <a:srgbClr val="FFFFFF"/>
                </a:solidFill>
                <a:latin typeface="Arial"/>
              </a:rPr>
              <a:t>Aggregates physical zone traffic frequencies and average dwell times, normalizing outputs to a 0-100 score for layout evaluation.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Queue Wait &amp; Abandonment Monitoring: </a:t>
            </a:r>
            <a:r>
              <a:rPr sz="1600" b="0">
                <a:solidFill>
                  <a:srgbClr val="FFFFFF"/>
                </a:solidFill>
                <a:latin typeface="Arial"/>
              </a:rPr>
              <a:t>Calculates billing queue wait times (served minus join times) and logs queue abandonments when visitors exit without checkouts.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4899"/>
                </a:solidFill>
                <a:latin typeface="Arial"/>
              </a:defRPr>
            </a:pPr>
            <a:r>
              <a:t>OPERATIONAL ANOMALY &amp; DIAGNOSTIC ENGINE</a:t>
            </a:r>
          </a:p>
          <a:p>
            <a:pPr>
              <a:defRPr sz="1400">
                <a:solidFill>
                  <a:srgbClr val="A39CB5"/>
                </a:solidFill>
                <a:latin typeface="Arial"/>
              </a:defRPr>
            </a:pPr>
            <a:r>
              <a:t>Observing friction and suggesting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Queue Spike Alerts (Severity: WARN / CRITICAL): </a:t>
            </a:r>
            <a:r>
              <a:rPr sz="1600" b="0">
                <a:solidFill>
                  <a:srgbClr val="FFFFFF"/>
                </a:solidFill>
                <a:latin typeface="Arial"/>
              </a:rPr>
              <a:t>Detects line buildups immediately. Suggests allocating cashier backup stations.</a:t>
            </a:r>
          </a:p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Conversion Drop Alerts (Severity: CRITICAL): </a:t>
            </a:r>
            <a:r>
              <a:rPr sz="1600" b="0">
                <a:solidFill>
                  <a:srgbClr val="FFFFFF"/>
                </a:solidFill>
                <a:latin typeface="Arial"/>
              </a:rPr>
              <a:t>Triggers when visitor conversion falls below bounds, prompting checkout checkout checks.</a:t>
            </a:r>
          </a:p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Dead Zone Identifications (Severity: INFO): </a:t>
            </a:r>
            <a:r>
              <a:rPr sz="1600" b="0">
                <a:solidFill>
                  <a:srgbClr val="FFFFFF"/>
                </a:solidFill>
                <a:latin typeface="Arial"/>
              </a:rPr>
              <a:t>Flags shelves or display stands getting zero visitor dwell interaction, suggesting layout reconfiguration.</a:t>
            </a:r>
          </a:p>
          <a:p>
            <a:pPr>
              <a:spcAft>
                <a:spcPts val="2000"/>
              </a:spcAft>
              <a:defRPr sz="1800" b="1">
                <a:solidFill>
                  <a:srgbClr val="EC4899"/>
                </a:solidFill>
                <a:latin typeface="Arial"/>
              </a:defRPr>
            </a:pPr>
            <a:r>
              <a:t>•  Layout Bottleneck Alerts (Severity: INFO): </a:t>
            </a:r>
            <a:r>
              <a:rPr sz="1600" b="0">
                <a:solidFill>
                  <a:srgbClr val="FFFFFF"/>
                </a:solidFill>
                <a:latin typeface="Arial"/>
              </a:rPr>
              <a:t>Identifies zones with average dwell times exceeding thresholds (e.g. 45s), highlighting congestion friction.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4899"/>
                </a:solidFill>
                <a:latin typeface="Arial"/>
              </a:defRPr>
            </a:pPr>
            <a:r>
              <a:t>PRODUCTION READINESS &amp; BUSINESS VALUE</a:t>
            </a:r>
          </a:p>
          <a:p>
            <a:pPr>
              <a:defRPr sz="1400">
                <a:solidFill>
                  <a:srgbClr val="A39CB5"/>
                </a:solidFill>
                <a:latin typeface="Arial"/>
              </a:defRPr>
            </a:pPr>
            <a:r>
              <a:t>Zero-friction deployment, full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Docker Compose Orchestration: </a:t>
            </a:r>
            <a:r>
              <a:rPr sz="1600" b="0">
                <a:solidFill>
                  <a:srgbClr val="FFFFFF"/>
                </a:solidFill>
                <a:latin typeface="Arial"/>
              </a:rPr>
              <a:t>Deploys with zero manual configuration. Automatically initializes SQLite database schema and bootstraps sample event records.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Structured Observability &amp; JSON Logs: </a:t>
            </a:r>
            <a:r>
              <a:rPr sz="1600" b="0">
                <a:solidFill>
                  <a:srgbClr val="FFFFFF"/>
                </a:solidFill>
                <a:latin typeface="Arial"/>
              </a:rPr>
              <a:t>Requests trace IDs, database locks mapping to HTTP 503, and global unhandled exception filters to hide stack traces.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14/14 Pytest Test Suites: </a:t>
            </a:r>
            <a:r>
              <a:rPr sz="1600" b="0">
                <a:solidFill>
                  <a:srgbClr val="FFFFFF"/>
                </a:solidFill>
                <a:latin typeface="Arial"/>
              </a:rPr>
              <a:t>Validated against empty store, all-staff clips, zero purchases, and re-entry funnel deduplications with robust thread-safe Windows lock bypassing.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•  Business Impact: </a:t>
            </a:r>
            <a:r>
              <a:rPr sz="1600" b="0">
                <a:solidFill>
                  <a:srgbClr val="FFFFFF"/>
                </a:solidFill>
                <a:latin typeface="Arial"/>
              </a:rPr>
              <a:t>Empowers retail brands to make data-driven layout updates, optimize staff scheduling, minimize queue drop-offs, and increase sales conversion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