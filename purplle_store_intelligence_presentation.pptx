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011680"/>
            <a:ext cx="137160" cy="2926080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920240"/>
            <a:ext cx="10332720" cy="3200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6B21A8"/>
                </a:solidFill>
                <a:latin typeface="Arial"/>
              </a:defRPr>
            </a:pPr>
            <a:r>
              <a:t>PURPLLE STORE INTELLIGENCE</a:t>
            </a:r>
          </a:p>
          <a:p>
            <a:pPr>
              <a:spcAft>
                <a:spcPts val="4000"/>
              </a:spcAft>
              <a:defRPr sz="1800">
                <a:solidFill>
                  <a:srgbClr val="212529"/>
                </a:solidFill>
                <a:latin typeface="Arial"/>
              </a:defRPr>
            </a:pPr>
            <a:r>
              <a:t>Edge-to-API Computer Vision Telemetry &amp; Retail Analytics Suite</a:t>
            </a:r>
          </a:p>
          <a:p>
            <a:pPr>
              <a:defRPr sz="1100" b="1">
                <a:solidFill>
                  <a:srgbClr val="DB2777"/>
                </a:solidFill>
                <a:latin typeface="Arial"/>
              </a:defRPr>
            </a:pPr>
            <a:r>
              <a:t>HACKATHON SUBMISSION DECK  |  PRODUCTION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6B21A8"/>
                </a:solidFill>
                <a:latin typeface="Arial"/>
              </a:defRPr>
            </a:pPr>
            <a:r>
              <a:t>THE RETAIL BLIND SPOT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Why physical retail stores operate in data silos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0"/>
              </a:spcAft>
              <a:defRPr sz="1600" b="1">
                <a:solidFill>
                  <a:srgbClr val="6B21A8"/>
                </a:solidFill>
                <a:latin typeface="Arial"/>
              </a:defRPr>
            </a:pPr>
            <a:r>
              <a:t>•  Siloed Data Flow: </a:t>
            </a:r>
            <a:r>
              <a:rPr sz="1400">
                <a:solidFill>
                  <a:srgbClr val="212529"/>
                </a:solidFill>
                <a:latin typeface="Arial"/>
              </a:rPr>
              <a:t>CCTV streams and POS registers operate independently. Shoper behavior data is disconnected from final transactions.</a:t>
            </a:r>
          </a:p>
          <a:p>
            <a:pPr>
              <a:spcAft>
                <a:spcPts val="2500"/>
              </a:spcAft>
              <a:defRPr sz="1600" b="1">
                <a:solidFill>
                  <a:srgbClr val="6B21A8"/>
                </a:solidFill>
                <a:latin typeface="Arial"/>
              </a:defRPr>
            </a:pPr>
            <a:r>
              <a:t>•  Tracking Blindspots: </a:t>
            </a:r>
            <a:r>
              <a:rPr sz="1400">
                <a:solidFill>
                  <a:srgbClr val="212529"/>
                </a:solidFill>
                <a:latin typeface="Arial"/>
              </a:rPr>
              <a:t>Stores lack analytics on shopper dwell times, layout zone interactions, and conversion pipelines.</a:t>
            </a:r>
          </a:p>
          <a:p>
            <a:pPr>
              <a:spcAft>
                <a:spcPts val="2500"/>
              </a:spcAft>
              <a:defRPr sz="1600" b="1">
                <a:solidFill>
                  <a:srgbClr val="6B21A8"/>
                </a:solidFill>
                <a:latin typeface="Arial"/>
              </a:defRPr>
            </a:pPr>
            <a:r>
              <a:t>•  Operational Delays: </a:t>
            </a:r>
            <a:r>
              <a:rPr sz="1400">
                <a:solidFill>
                  <a:srgbClr val="212529"/>
                </a:solidFill>
                <a:latin typeface="Arial"/>
              </a:rPr>
              <a:t>No real-time triggers for long checkout lines, customer wait times, or line abandonments.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DB2777"/>
                </a:solidFill>
                <a:latin typeface="Arial"/>
              </a:defRPr>
            </a:pPr>
            <a:r>
              <a:t>BUSINESS IMPACT OF SILOED DATA</a:t>
            </a:r>
          </a:p>
          <a:p>
            <a:pPr>
              <a:spcAft>
                <a:spcPts val="12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Lost Conversion Opportunities:</a:t>
            </a:r>
            <a:r>
              <a:rPr sz="1200">
                <a:solidFill>
                  <a:srgbClr val="6C757D"/>
                </a:solidFill>
                <a:latin typeface="Arial"/>
              </a:rPr>
              <a:t> Cannot analyze shopper drops between product shelf browsing and queue checkouts.</a:t>
            </a:r>
          </a:p>
          <a:p>
            <a:pPr>
              <a:spcAft>
                <a:spcPts val="12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Inefficient Staffing Allocation:</a:t>
            </a:r>
            <a:r>
              <a:rPr sz="1200">
                <a:solidFill>
                  <a:srgbClr val="6C757D"/>
                </a:solidFill>
                <a:latin typeface="Arial"/>
              </a:rPr>
              <a:t> Cannot optimize cashier stations or allocate helpers dynamically during checkout spikes.</a:t>
            </a:r>
          </a:p>
          <a:p>
            <a:pPr>
              <a:spcAft>
                <a:spcPts val="12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Layout Friction:</a:t>
            </a:r>
            <a:r>
              <a:rPr sz="1200">
                <a:solidFill>
                  <a:srgbClr val="6C757D"/>
                </a:solidFill>
                <a:latin typeface="Arial"/>
              </a:rPr>
              <a:t> No visual feedback on dead displays or crowded aisles.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6B21A8"/>
                </a:solidFill>
                <a:latin typeface="Arial"/>
              </a:defRPr>
            </a:pPr>
            <a:r>
              <a:t>SYSTEM ARCHITECTURE &amp; LAYOUT FLOW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Decoupled edge client processing and spatial coordinate mapping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500"/>
              </a:spcAft>
              <a:defRPr sz="1400" b="1">
                <a:solidFill>
                  <a:srgbClr val="6B21A8"/>
                </a:solidFill>
                <a:latin typeface="Arial"/>
              </a:defRPr>
            </a:pPr>
            <a:r>
              <a:t>1. Edge CCTV Ingestion: </a:t>
            </a:r>
            <a:r>
              <a:rPr sz="1200">
                <a:solidFill>
                  <a:srgbClr val="212529"/>
                </a:solidFill>
                <a:latin typeface="Arial"/>
              </a:rPr>
              <a:t>Processes frames locally using YOLOv8. Tracks centroids and calculates IoU bounds to maintain ID continuity during occlusions.</a:t>
            </a:r>
          </a:p>
          <a:p>
            <a:pPr>
              <a:spcAft>
                <a:spcPts val="1500"/>
              </a:spcAft>
              <a:defRPr sz="1400" b="1">
                <a:solidFill>
                  <a:srgbClr val="6B21A8"/>
                </a:solidFill>
                <a:latin typeface="Arial"/>
              </a:defRPr>
            </a:pPr>
            <a:r>
              <a:t>2. Spatial Polygon Mapping: </a:t>
            </a:r>
            <a:r>
              <a:rPr sz="1200">
                <a:solidFill>
                  <a:srgbClr val="212529"/>
                </a:solidFill>
                <a:latin typeface="Arial"/>
              </a:rPr>
              <a:t>Maps bottom-center footprints to layout zones using OpenCV pointPolygonTest. Emits state transition events to reduce network traffic.</a:t>
            </a:r>
          </a:p>
          <a:p>
            <a:pPr>
              <a:spcAft>
                <a:spcPts val="1500"/>
              </a:spcAft>
              <a:defRPr sz="1400" b="1">
                <a:solidFill>
                  <a:srgbClr val="6B21A8"/>
                </a:solidFill>
                <a:latin typeface="Arial"/>
              </a:defRPr>
            </a:pPr>
            <a:r>
              <a:t>3. FastAPI Analytics Gateway: </a:t>
            </a:r>
            <a:r>
              <a:rPr sz="1200">
                <a:solidFill>
                  <a:srgbClr val="212529"/>
                </a:solidFill>
                <a:latin typeface="Arial"/>
              </a:rPr>
              <a:t>Ingests batch payloads (up to 500 events). Enforces unique database constraints for idempotent deduplication.</a:t>
            </a:r>
          </a:p>
          <a:p>
            <a:pPr>
              <a:spcAft>
                <a:spcPts val="1500"/>
              </a:spcAft>
              <a:defRPr sz="1400" b="1">
                <a:solidFill>
                  <a:srgbClr val="6B21A8"/>
                </a:solidFill>
                <a:latin typeface="Arial"/>
              </a:defRPr>
            </a:pPr>
            <a:r>
              <a:t>4. Storage &amp; Processing: </a:t>
            </a:r>
            <a:r>
              <a:rPr sz="1200">
                <a:solidFill>
                  <a:srgbClr val="212529"/>
                </a:solidFill>
                <a:latin typeface="Arial"/>
              </a:rPr>
              <a:t>SQLite database handles aggregations. Dedicated metrics, funnel, and anomaly engines compute live indicators.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0" y="1645920"/>
            <a:ext cx="5029200" cy="4114800"/>
          </a:xfrm>
          <a:prstGeom prst="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Store 1 - lay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828800"/>
            <a:ext cx="4663440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6B21A8"/>
                </a:solidFill>
                <a:latin typeface="Arial"/>
              </a:defRPr>
            </a:pPr>
            <a:r>
              <a:t>REAL-TIME TELEMETRY DASHBOARD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Modern responsive interface serving analytics and operational alerts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645920"/>
            <a:ext cx="5303520" cy="4389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5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•  Real-Time KPI Tracking: </a:t>
            </a:r>
            <a:r>
              <a:rPr sz="1200">
                <a:solidFill>
                  <a:srgbClr val="212529"/>
                </a:solidFill>
                <a:latin typeface="Arial"/>
              </a:rPr>
              <a:t>Aggregates conversion rates, visitors (excluding staff), total transactions, and revenues, updating metrics every 5 seconds.</a:t>
            </a:r>
          </a:p>
          <a:p>
            <a:pPr>
              <a:spcAft>
                <a:spcPts val="25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•  Session-Based Funnels: </a:t>
            </a:r>
            <a:r>
              <a:rPr sz="1200">
                <a:solidFill>
                  <a:srgbClr val="212529"/>
                </a:solidFill>
                <a:latin typeface="Arial"/>
              </a:rPr>
              <a:t>Displays conversion progression down the funnel steps (Entry -&gt; Browse -&gt; Queue -&gt; Sale) with visitor-level re-entry deduplication.</a:t>
            </a:r>
          </a:p>
          <a:p>
            <a:pPr>
              <a:spcAft>
                <a:spcPts val="2500"/>
              </a:spcAft>
              <a:defRPr sz="1400" b="1">
                <a:solidFill>
                  <a:srgbClr val="DB2777"/>
                </a:solidFill>
                <a:latin typeface="Arial"/>
              </a:defRPr>
            </a:pPr>
            <a:r>
              <a:t>•  Operational Alert Logs: </a:t>
            </a:r>
            <a:r>
              <a:rPr sz="1200">
                <a:solidFill>
                  <a:srgbClr val="212529"/>
                </a:solidFill>
                <a:latin typeface="Arial"/>
              </a:rPr>
              <a:t>Directly flags queue bottlenecks and layout dead zones, displaying severity levels and suggested actions for store managers.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645920"/>
            <a:ext cx="50292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675120" y="1920240"/>
            <a:ext cx="448056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6C757D"/>
                </a:solidFill>
                <a:latin typeface="Arial"/>
              </a:defRPr>
            </a:pPr>
            <a:r>
              <a:t>Dashboard Snapshot UI</a:t>
            </a:r>
            <a:br/>
            <a:br/>
            <a:r>
              <a:t>[Live dashboard interface displaying real-time shopper analytics and conversion charts]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6B21A8"/>
                </a:solidFill>
                <a:latin typeface="Arial"/>
              </a:defRPr>
            </a:pPr>
            <a:r>
              <a:t>OPERATIONAL DIAGNOSTICS &amp; ANOMALIES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Real-time alerts classification and suggested manager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3328416" cy="4023360"/>
          </a:xfrm>
          <a:prstGeom prst="roundRect">
            <a:avLst/>
          </a:prstGeom>
          <a:solidFill>
            <a:srgbClr val="FEF2F2"/>
          </a:solidFill>
          <a:ln w="25400">
            <a:solidFill>
              <a:srgbClr val="FCA5A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20116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B91C1C"/>
                </a:solidFill>
                <a:latin typeface="Arial"/>
              </a:defRPr>
            </a:pPr>
            <a:r>
              <a:t>CRITICAL SEVERITY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Conversion Drop</a:t>
            </a:r>
          </a:p>
          <a:p>
            <a:pPr>
              <a:spcAft>
                <a:spcPts val="15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Triggers when visitor conversion rates drop below threshold. Suggests checking checkout lanes and POS connection states.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Queue Abandonment</a:t>
            </a:r>
          </a:p>
          <a:p>
            <a:pPr>
              <a:defRPr sz="1100">
                <a:solidFill>
                  <a:srgbClr val="6C757D"/>
                </a:solidFill>
                <a:latin typeface="Arial"/>
              </a:defRPr>
            </a:pPr>
            <a:r>
              <a:t>Triggered when visitors exit queue lines before checkout, suggesting active cashier backup deployment.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828800"/>
            <a:ext cx="3328416" cy="4023360"/>
          </a:xfrm>
          <a:prstGeom prst="roundRect">
            <a:avLst/>
          </a:prstGeom>
          <a:solidFill>
            <a:srgbClr val="FFF7ED"/>
          </a:solidFill>
          <a:ln w="25400">
            <a:solidFill>
              <a:srgbClr val="FDBA7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62856" y="20116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C2410C"/>
                </a:solidFill>
                <a:latin typeface="Arial"/>
              </a:defRPr>
            </a:pPr>
            <a:r>
              <a:t>WARNING SEVERITY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Queue Line Spike</a:t>
            </a:r>
          </a:p>
          <a:p>
            <a:pPr>
              <a:spcAft>
                <a:spcPts val="15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Triggered when active queue length or wait times exceed limits. Suggests opening dynamic checkouts.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Long wait times</a:t>
            </a:r>
          </a:p>
          <a:p>
            <a:pPr>
              <a:defRPr sz="1100">
                <a:solidFill>
                  <a:srgbClr val="6C757D"/>
                </a:solidFill>
                <a:latin typeface="Arial"/>
              </a:defRPr>
            </a:pPr>
            <a:r>
              <a:t>Tracks customers waiting in line for more than 15 seconds, alerting managers to direct helpers.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19872" y="1828800"/>
            <a:ext cx="3328416" cy="402336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93C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57032" y="2011680"/>
            <a:ext cx="3054096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INFO SEVERITY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Dead Zone Alerts</a:t>
            </a:r>
          </a:p>
          <a:p>
            <a:pPr>
              <a:spcAft>
                <a:spcPts val="1500"/>
              </a:spcAft>
              <a:defRPr sz="1100">
                <a:solidFill>
                  <a:srgbClr val="6C757D"/>
                </a:solidFill>
                <a:latin typeface="Arial"/>
              </a:defRPr>
            </a:pPr>
            <a:r>
              <a:t>Flags display stands or layout zones getting zero visitor interactions despite high footfalls.</a:t>
            </a:r>
          </a:p>
          <a:p>
            <a:pPr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Layout Congestion</a:t>
            </a:r>
          </a:p>
          <a:p>
            <a:pPr>
              <a:defRPr sz="1100">
                <a:solidFill>
                  <a:srgbClr val="6C757D"/>
                </a:solidFill>
                <a:latin typeface="Arial"/>
              </a:defRPr>
            </a:pPr>
            <a:r>
              <a:t>Identifies shelves causing traffic bottlenecks (dwell times &gt; 45s) to suggest layout widening.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72865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600" b="1">
                <a:solidFill>
                  <a:srgbClr val="6B21A8"/>
                </a:solidFill>
                <a:latin typeface="Arial"/>
              </a:defRPr>
            </a:pPr>
            <a:r>
              <a:t>PRODUCTION READINESS &amp; ARCHITECTURE CHOICES</a:t>
            </a:r>
          </a:p>
          <a:p>
            <a:pPr>
              <a:defRPr sz="1300">
                <a:solidFill>
                  <a:srgbClr val="6C757D"/>
                </a:solidFill>
                <a:latin typeface="Arial"/>
              </a:defRPr>
            </a:pPr>
            <a:r>
              <a:t>Engineered for robust operations and low setup friction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828800"/>
            <a:ext cx="517550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828800"/>
            <a:ext cx="5175504" cy="109728"/>
          </a:xfrm>
          <a:prstGeom prst="rect">
            <a:avLst/>
          </a:prstGeom>
          <a:solidFill>
            <a:srgbClr val="1D4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103120"/>
            <a:ext cx="4809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1D4ED8"/>
                </a:solidFill>
                <a:latin typeface="Arial"/>
              </a:defRPr>
            </a:pPr>
            <a:r>
              <a:t>OBSERVABILITY &amp; INTEGRATION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Structured JSON Logging: </a:t>
            </a:r>
            <a:r>
              <a:rPr sz="1100" b="0">
                <a:solidFill>
                  <a:srgbClr val="6C757D"/>
                </a:solidFill>
                <a:latin typeface="Arial"/>
              </a:rPr>
              <a:t>HTTP requests trace telemetry (trace_id, store_id, latency_ms) printed cleanly in stdout for collector pipes (e.g. FluentBit).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Graceful DB Degradation: </a:t>
            </a:r>
            <a:r>
              <a:rPr sz="1100" b="0">
                <a:solidFill>
                  <a:srgbClr val="6C757D"/>
                </a:solidFill>
                <a:latin typeface="Arial"/>
              </a:rPr>
              <a:t>Intercepts SQLiteOperationalErrors during write locks to cleanly return HTTP 503 rather than breaking server runtime.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Stack Trace Suppression: </a:t>
            </a:r>
            <a:r>
              <a:rPr sz="1100" b="0">
                <a:solidFill>
                  <a:srgbClr val="6C757D"/>
                </a:solidFill>
                <a:latin typeface="Arial"/>
              </a:rPr>
              <a:t>Global catch-all exception middleware catches unhandled python runtime exceptions to mask raw tracebacks from public clients.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72784" y="1828800"/>
            <a:ext cx="5175504" cy="39319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EE2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272784" y="1828800"/>
            <a:ext cx="5175504" cy="109728"/>
          </a:xfrm>
          <a:prstGeom prst="rect">
            <a:avLst/>
          </a:prstGeom>
          <a:solidFill>
            <a:srgbClr val="6B21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55664" y="2103120"/>
            <a:ext cx="4809744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800" b="1">
                <a:solidFill>
                  <a:srgbClr val="6B21A8"/>
                </a:solidFill>
                <a:latin typeface="Arial"/>
              </a:defRPr>
            </a:pPr>
            <a:r>
              <a:t>VALIDATION &amp; DEPLOYMENT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Docker Compose Works: </a:t>
            </a:r>
            <a:r>
              <a:rPr sz="1100" b="0">
                <a:solidFill>
                  <a:srgbClr val="6C757D"/>
                </a:solidFill>
                <a:latin typeface="Arial"/>
              </a:rPr>
              <a:t>Builds containers in single command. Automatically mounts local volumes and handles database seed imports.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14/14 Pytest Test Coverage: </a:t>
            </a:r>
            <a:r>
              <a:rPr sz="1100" b="0">
                <a:solidFill>
                  <a:srgbClr val="6C757D"/>
                </a:solidFill>
                <a:latin typeface="Arial"/>
              </a:rPr>
              <a:t>Validates special compliance test scenarios (Empty Store, All-Staff Clips, Zero Purchases, Re-entry Funnels).</a:t>
            </a:r>
          </a:p>
          <a:p>
            <a:pPr>
              <a:spcAft>
                <a:spcPts val="1000"/>
              </a:spcAft>
              <a:defRPr sz="1300" b="1">
                <a:solidFill>
                  <a:srgbClr val="212529"/>
                </a:solidFill>
                <a:latin typeface="Arial"/>
              </a:defRPr>
            </a:pPr>
            <a:r>
              <a:t>•  Portability &amp; Portings: </a:t>
            </a:r>
            <a:r>
              <a:rPr sz="1100" b="0">
                <a:solidFill>
                  <a:srgbClr val="6C757D"/>
                </a:solidFill>
                <a:latin typeface="Arial"/>
              </a:rPr>
              <a:t>Custom Centroid/IoU tracking replaces C++ libraries (DeepSORT/ByteTrack), running out-of-the-box on CPU without compilers.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